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review; source Block A,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review; source Block A,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prelecture; source Block A, slide 3.
SOURCES:
[Midterm preparation](../prep.md) · [Released practice case](../../../midterm/practice-case.md)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logistics; source Block A,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logistics; source Block A,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7.
SOURCES:
Week 4 reference demo — [bodonnell-DePaul/webdev_week4](https://github.com/bodonnell-DePaul/webdev_week4)
React — [Choosing the state structure](https://react.dev/learn/choosing-the-state-structure)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8.
SOURCES:
Reference demo architecture — [README and full-stack-architecture-demo](https://github.com/bodonnell-DePaul/webdev_week4/tree/main/full-stack-architecture-demo)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9.
SOURCES:
[SQLite: Appropriate uses](https://www.sqlite.org/whentouse.html) · [PostgreSQL documentation](https://www.postgresql.org/docs/current/)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12.
SOURCES:
Course — [CampusPulse schema](../../../samples/campuspulse-schema/schema.sql)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4.
SOURCES:
Reference demo — [bodonnell-DePaul/webdev_week4](https://github.com/bodonnell-DePaul/webdev_week4/blob/main/full-stack-architecture-demo/api/Program.cs)
Microsoft Learn — [EF Core overview](https://learn.microsoft.com/ef/core/)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5.
SOURCES:
Drizzle ORM — [PostgreSQL column types](https://orm.drizzle.team/docs/column-types/pg) · Prisma — [Data model](https://www.prisma.io/docs/orm/prisma-schema/data-model/models)
Course — [CampusPulse schema](../../../samples/campuspulse-schema/schema.sql)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6.
SOURCES:
Microsoft Learn — [EF Core migrations](https://learn.microsoft.com/ef/core/managing-schemas/migrations/) · Drizzle — [Migrations](https://orm.drizzle.team/docs/migrations)
PostgreSQL — [pg_dump](https://www.postgresql.org/docs/current/app-pgdump.html)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7.
SOURCES:
Course — [guardrail sheet](../../../samples/campuspulse-schema/guardrail-sheet.md) · [Gate 4 milestone](../milestone-data-baseline.md)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8.
SOURCES:
Microsoft Learn — [Loading related data](https://learn.microsoft.com/ef/core/querying/related-data/)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9.
SOURCES:
PostgreSQL — [Indexes](https://www.postgresql.org/docs/current/indexes.html) · node-postgres — [Pooling](https://node-postgres.com/features/pooling) · [Zod](https://zod.dev/)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10.
SOURCES:
Week 4 reference — [AI schema checklist](https://github.com/bodonnell-DePaul/webdev_week4#readme)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2.
SOURCES:
Course — [CampusPulse REST adapter](../../../samples/campuspulse-schema/api/server.mjs) · MDN — [HTTP response status codes](https://developer.mozilla.org/docs/Web/HTTP/Status)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3.
SOURCES:
Reference demo — [client.js and projectsApi.js](https://github.com/bodonnell-DePaul/webdev_week4/tree/main/full-stack-architecture-demo/src/api)
Vite — [Env variables and modes](https://vite.dev/guide/env-and-mode)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4.
SOURCES:
Model Context Protocol — [Specification](https://modelcontextprotocol.io/specification) · Course — [MCP starter](../../../samples/mcp-starter/README.md)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5.
SOURCES:
Course — [MCP starter server.ts](../../../samples/mcp-starter/src/server.ts) · [domain types](../../../samples/mcp-starter/src/types.ts)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6.
SOURCES:
Course — [CampusPulse schema](../../../samples/campuspulse-schema/schema.sql) · [ER diagram](../../../samples/campuspulse-schema/diagrams/er-diagram.mmd)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homework; source Block C, slide 7.
SOURCES:
Course — [milestone handout and template](../milestone-data-baseline.md)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homework; source Block C, slide 8.
SOURCES:
Course — [HW5 handout](../homework.md) · [Week 5 task detail](../../week05/homework.md)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closing; source Block C,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../prep.md" TargetMode="External"/><Relationship Id="rId2" Type="http://schemas.openxmlformats.org/officeDocument/2006/relationships/hyperlink" Target="../../../midterm/practice-case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odonnell-DePaul/webdev_week4" TargetMode="External"/><Relationship Id="rId2" Type="http://schemas.openxmlformats.org/officeDocument/2006/relationships/hyperlink" Target="https://react.dev/learn/choosing-the-state-structur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odonnell-DePaul/webdev_week4/tree/main/full-stack-architecture-demo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qlite.org/whentouse.html" TargetMode="External"/><Relationship Id="rId2" Type="http://schemas.openxmlformats.org/officeDocument/2006/relationships/hyperlink" Target="https://www.postgresql.org/docs/current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../../../samples/campuspulse-schema/schema.sq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odonnell-DePaul/webdev_week4/blob/main/full-stack-architecture-demo/api/Program.cs" TargetMode="External"/><Relationship Id="rId2" Type="http://schemas.openxmlformats.org/officeDocument/2006/relationships/hyperlink" Target="https://learn.microsoft.com/ef/core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orm.drizzle.team/docs/column-types/pg" TargetMode="External"/><Relationship Id="rId2" Type="http://schemas.openxmlformats.org/officeDocument/2006/relationships/hyperlink" Target="https://www.prisma.io/docs/orm/prisma-schema/data-model/models" TargetMode="External"/><Relationship Id="rId3" Type="http://schemas.openxmlformats.org/officeDocument/2006/relationships/hyperlink" Target="../../../samples/campuspulse-schema/schema.sq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ef/core/managing-schemas/migrations/" TargetMode="External"/><Relationship Id="rId2" Type="http://schemas.openxmlformats.org/officeDocument/2006/relationships/hyperlink" Target="https://orm.drizzle.team/docs/migrations" TargetMode="External"/><Relationship Id="rId3" Type="http://schemas.openxmlformats.org/officeDocument/2006/relationships/hyperlink" Target="https://www.postgresql.org/docs/current/app-pgdump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../../../samples/campuspulse-schema/guardrail-sheet.md" TargetMode="External"/><Relationship Id="rId2" Type="http://schemas.openxmlformats.org/officeDocument/2006/relationships/hyperlink" Target="../milestone-data-baseline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ef/core/querying/related-data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ostgresql.org/docs/current/indexes.html" TargetMode="External"/><Relationship Id="rId2" Type="http://schemas.openxmlformats.org/officeDocument/2006/relationships/hyperlink" Target="https://node-postgres.com/features/pooling" TargetMode="External"/><Relationship Id="rId3" Type="http://schemas.openxmlformats.org/officeDocument/2006/relationships/hyperlink" Target="https://zod.dev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odonnell-DePaul/webdev_week4#readm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../../../samples/campuspulse-schema/api/server.mjs" TargetMode="External"/><Relationship Id="rId2" Type="http://schemas.openxmlformats.org/officeDocument/2006/relationships/hyperlink" Target="https://developer.mozilla.org/docs/Web/HTTP/Statu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odonnell-DePaul/webdev_week4/tree/main/full-stack-architecture-demo/src/api" TargetMode="External"/><Relationship Id="rId2" Type="http://schemas.openxmlformats.org/officeDocument/2006/relationships/hyperlink" Target="https://vite.dev/guide/env-and-mod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specification" TargetMode="External"/><Relationship Id="rId2" Type="http://schemas.openxmlformats.org/officeDocument/2006/relationships/hyperlink" Target="../../../samples/mcp-starter/README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../../../samples/mcp-starter/src/server.ts" TargetMode="External"/><Relationship Id="rId2" Type="http://schemas.openxmlformats.org/officeDocument/2006/relationships/hyperlink" Target="../../../samples/mcp-starter/src/types.t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../../../samples/campuspulse-schema/schema.sql" TargetMode="External"/><Relationship Id="rId2" Type="http://schemas.openxmlformats.org/officeDocument/2006/relationships/hyperlink" Target="../../../samples/campuspulse-schema/diagrams/er-diagram.m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../milestone-data-baselin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../homework.md" TargetMode="External"/><Relationship Id="rId2" Type="http://schemas.openxmlformats.org/officeDocument/2006/relationships/hyperlink" Target="../../week05/homework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436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425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Midterm Exam + Data Persistence, ORMs, and Models on the Web</a:t>
            </a:r>
            <a:endParaRPr lang="en-US" sz="4425" dirty="0"/>
          </a:p>
        </p:txBody>
      </p:sp>
      <p:sp>
        <p:nvSpPr>
          <p:cNvPr id="8" name="Text 6"/>
          <p:cNvSpPr/>
          <p:nvPr/>
        </p:nvSpPr>
        <p:spPr>
          <a:xfrm>
            <a:off x="685800" y="3589458"/>
            <a:ext cx="9525000" cy="1287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3985"/>
              </a:lnSpc>
              <a:buNone/>
            </a:pPr>
            <a:r>
              <a:rPr lang="en-US" sz="25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Review, exam preparation and logistics, the midterm, data modeling, and the baseline milestone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581275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581275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6 · Full session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81375" y="4991100"/>
            <a:ext cx="1533525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1375" y="4991100"/>
            <a:ext cx="1533525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2026-09-05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91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94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Recall the request-to-page journey</a:t>
            </a:r>
            <a:endParaRPr lang="en-US" sz="3948" dirty="0"/>
          </a:p>
        </p:txBody>
      </p:sp>
      <p:sp>
        <p:nvSpPr>
          <p:cNvPr id="7" name="Text 5"/>
          <p:cNvSpPr/>
          <p:nvPr/>
        </p:nvSpPr>
        <p:spPr>
          <a:xfrm>
            <a:off x="685800" y="1713453"/>
            <a:ext cx="10820400" cy="27846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Recall:</a:t>
            </a:r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site fails to load. Name a layer and a raw artifact that tests your hypothesis</a:t>
            </a:r>
            <a:endParaRPr lang="en-US" sz="2256" dirty="0"/>
          </a:p>
          <a:p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1–2:</a:t>
            </a:r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network attachment, DNS, and the request path</a:t>
            </a:r>
            <a:endParaRPr lang="en-US" sz="2256" dirty="0"/>
          </a:p>
          <a:p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3:</a:t>
            </a:r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React and TypeScript — state, effects, and a client you can verify</a:t>
            </a:r>
            <a:endParaRPr lang="en-US" sz="2256" dirty="0"/>
          </a:p>
          <a:p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4–5:</a:t>
            </a:r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HTTP, TLS, caching, delivery, and user experience</a:t>
            </a:r>
            <a:endParaRPr lang="en-US" sz="2256" dirty="0"/>
          </a:p>
        </p:txBody>
      </p:sp>
      <p:sp>
        <p:nvSpPr>
          <p:cNvPr id="8" name="Shape 6"/>
          <p:cNvSpPr/>
          <p:nvPr/>
        </p:nvSpPr>
        <p:spPr>
          <a:xfrm>
            <a:off x="685800" y="4623455"/>
            <a:ext cx="10820400" cy="1066936"/>
          </a:xfrm>
          <a:prstGeom prst="roundRect">
            <a:avLst>
              <a:gd name="adj" fmla="val 428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623455"/>
            <a:ext cx="76200" cy="106693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37755"/>
            <a:ext cx="10363200" cy="3044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1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551" dirty="0"/>
          </a:p>
        </p:txBody>
      </p:sp>
      <p:sp>
        <p:nvSpPr>
          <p:cNvPr id="11" name="Text 9"/>
          <p:cNvSpPr/>
          <p:nvPr/>
        </p:nvSpPr>
        <p:spPr>
          <a:xfrm>
            <a:off x="914400" y="5080274"/>
            <a:ext cx="10363200" cy="4577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12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exam covers Weeks 1–5. Today's persistence topic is not exam content.</a:t>
            </a:r>
            <a:endParaRPr lang="en-US" sz="212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Prelecture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exam preparation rehearsed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77670"/>
            <a:ext cx="5219700" cy="4334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released practice case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325453"/>
            <a:ext cx="52197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 a claim to a specific line of evidence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the mechanism, not just the symptom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 a safe change and how to verify it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1777670"/>
            <a:ext cx="5219700" cy="4334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study preparation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325453"/>
            <a:ext cx="52197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self-checks to identify weak areas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 your own offline notes and your own homework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assigned reading for today's data topic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Midterm preparation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Released practice case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Weekly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Exam logistics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77670"/>
            <a:ext cx="5219700" cy="4198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6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 and materials</a:t>
            </a:r>
            <a:endParaRPr lang="en-US" sz="2160" dirty="0"/>
          </a:p>
        </p:txBody>
      </p:sp>
      <p:sp>
        <p:nvSpPr>
          <p:cNvPr id="8" name="Text 6"/>
          <p:cNvSpPr/>
          <p:nvPr/>
        </p:nvSpPr>
        <p:spPr>
          <a:xfrm>
            <a:off x="685800" y="2307199"/>
            <a:ext cx="5219700" cy="2768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 work; no generative AI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Printed/offline notes and your own HW1–HW5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Phones away; integrity statement before starting</a:t>
            </a:r>
            <a:endParaRPr lang="en-US" sz="2304" dirty="0"/>
          </a:p>
        </p:txBody>
      </p:sp>
      <p:sp>
        <p:nvSpPr>
          <p:cNvPr id="9" name="Text 7"/>
          <p:cNvSpPr/>
          <p:nvPr/>
        </p:nvSpPr>
        <p:spPr>
          <a:xfrm>
            <a:off x="6286500" y="1777670"/>
            <a:ext cx="5219700" cy="4198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6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Clock and format</a:t>
            </a:r>
            <a:endParaRPr lang="en-US" sz="2160" dirty="0"/>
          </a:p>
        </p:txBody>
      </p:sp>
      <p:sp>
        <p:nvSpPr>
          <p:cNvPr id="10" name="Text 8"/>
          <p:cNvSpPr/>
          <p:nvPr/>
        </p:nvSpPr>
        <p:spPr>
          <a:xfrm>
            <a:off x="6286500" y="2307199"/>
            <a:ext cx="5219700" cy="36612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120 minutes: class minute 5 through 125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20% concepts; 60% four cases; 20% design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Minutes: 20 concepts + 68 cases + 22 design + 10 reading/review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Accommodations use the prearranged separate sitting</a:t>
            </a:r>
            <a:endParaRPr lang="en-US" sz="230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Weekly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120 minutes, individual, open offline notes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691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94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midterm happens now</a:t>
            </a:r>
            <a:endParaRPr lang="en-US" sz="3948" dirty="0"/>
          </a:p>
        </p:txBody>
      </p:sp>
      <p:sp>
        <p:nvSpPr>
          <p:cNvPr id="9" name="Text 7"/>
          <p:cNvSpPr/>
          <p:nvPr/>
        </p:nvSpPr>
        <p:spPr>
          <a:xfrm>
            <a:off x="685800" y="3713703"/>
            <a:ext cx="10820400" cy="16500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Pause this presentation. The exam runs from the 5-minute mark to the 125-minute mark, followed by a 5-minute transition to reset the room. These slides pick back up with the 60-minute persistence topic once papers are collected.</a:t>
            </a:r>
            <a:endParaRPr lang="en-US" sz="22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Data persistence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Fictional CampusPulse case: the report that vanished on refresh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650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happened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872664"/>
            <a:ext cx="5219700" cy="3066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student reports "Wi-Fi down in the Loop library"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form shows a green "Reported!" banner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operator refreshes the dashboard: no report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report lived in React state and nowhere else</a:t>
            </a:r>
            <a:endParaRPr lang="en-US" sz="1920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650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question for tonight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86500" y="2872664"/>
            <a:ext cx="5219700" cy="2663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facts must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survive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refresh, a deploy, a crash?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should each one live, and who may change it?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does the shape of that data reach a browser, an API caller, and an AI tool?</a:t>
            </a:r>
            <a:endParaRPr lang="en-US" sz="1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Data persistence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639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kinds of state, four homes</a:t>
            </a:r>
            <a:endParaRPr lang="en-US" sz="3108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62897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3964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Kind</a:t>
                      </a:r>
                      <a:endParaRPr lang="en-US" sz="133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CampusPulse example</a:t>
                      </a:r>
                      <a:endParaRPr lang="en-US" sz="133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Lives in</a:t>
                      </a:r>
                      <a:endParaRPr lang="en-US" sz="133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Survives</a:t>
                      </a:r>
                      <a:endParaRPr lang="en-US" sz="133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151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UI state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 the report dialog open?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Component state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Nothing — that is fine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151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 client state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Signed-in user, theme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Context / store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Navigation, not refresh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58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Server-cache state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 list fetched from /api/status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 data cache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Until stale or refetched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58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Durable domain state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Incidents, updates, audit events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Database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Restarts, deploys, crashes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4258434"/>
            <a:ext cx="10820400" cy="1212580"/>
          </a:xfrm>
          <a:prstGeom prst="roundRect">
            <a:avLst>
              <a:gd name="adj" fmla="val 377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4258434"/>
            <a:ext cx="76200" cy="121258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372734"/>
            <a:ext cx="10363200" cy="239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1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21" dirty="0"/>
          </a:p>
        </p:txBody>
      </p:sp>
      <p:sp>
        <p:nvSpPr>
          <p:cNvPr id="11" name="Text 8"/>
          <p:cNvSpPr/>
          <p:nvPr/>
        </p:nvSpPr>
        <p:spPr>
          <a:xfrm>
            <a:off x="914400" y="4650483"/>
            <a:ext cx="10363200" cy="668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last row is the source of truth. Everything above it is a copy you must be willing to throw away.</a:t>
            </a:r>
            <a:endParaRPr lang="en-US" sz="1669" dirty="0"/>
          </a:p>
        </p:txBody>
      </p:sp>
      <p:sp>
        <p:nvSpPr>
          <p:cNvPr id="12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4 reference demo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bodonnell-DePaul/webdev_week4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Choosing the state structure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Data persistence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6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write, layer by layer</a:t>
            </a:r>
            <a:endParaRPr lang="en-US" sz="378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83342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450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Layer</a:t>
                      </a:r>
                      <a:endParaRPr lang="en-US" sz="16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Job</a:t>
                      </a:r>
                      <a:endParaRPr lang="en-US" sz="16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Must never</a:t>
                      </a:r>
                      <a:endParaRPr lang="en-US" sz="16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764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Browser (React)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Collect input, show state, call the API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Hold secrets or talk to the database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64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 endpoint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Validate, authorize, translate HTTP ↔ domain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Return raw table rows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67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Application rules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Enforce business invariants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Depend on the UI to check them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64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ORM / data access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Map objects to rows, build queries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Hide a query you have not read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64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Database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Store, constrain, index, transact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 reachable from the public internet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demo architecture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README and full-stack-architecture-demo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Data persistence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3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Choose storage by access pattern, and start boring</a:t>
            </a:r>
            <a:endParaRPr lang="en-US" sz="3108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35372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3964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Option</a:t>
                      </a:r>
                      <a:endParaRPr lang="en-US" sz="133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Reach for it when</a:t>
                      </a:r>
                      <a:endParaRPr lang="en-US" sz="133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Watch out for</a:t>
                      </a:r>
                      <a:endParaRPr lang="en-US" sz="133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151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SQLite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dev, demos, one process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writer; a file, not a server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58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PostgreSQL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Relations, constraints, many writers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Connections are scarce; pool them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151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 DB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nested document, read whole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Joins and cross-document rules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151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Key-value cache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Hot, disposable copies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database still decides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4487172"/>
            <a:ext cx="10820400" cy="1212580"/>
          </a:xfrm>
          <a:prstGeom prst="roundRect">
            <a:avLst>
              <a:gd name="adj" fmla="val 377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4487172"/>
            <a:ext cx="76200" cy="121258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601472"/>
            <a:ext cx="10363200" cy="239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1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21" dirty="0"/>
          </a:p>
        </p:txBody>
      </p:sp>
      <p:sp>
        <p:nvSpPr>
          <p:cNvPr id="11" name="Text 8"/>
          <p:cNvSpPr/>
          <p:nvPr/>
        </p:nvSpPr>
        <p:spPr>
          <a:xfrm>
            <a:off x="914400" y="4879221"/>
            <a:ext cx="10363200" cy="668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 runs on PostgreSQL: relational by default, something else only for a stated access pattern.</a:t>
            </a:r>
            <a:endParaRPr lang="en-US" sz="1669" dirty="0"/>
          </a:p>
        </p:txBody>
      </p:sp>
      <p:sp>
        <p:nvSpPr>
          <p:cNvPr id="12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SQLite: Appropriate uses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PostgreSQL documentation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Data persistence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underneath the storage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Entities, keys, and relationships</a:t>
            </a:r>
            <a:endParaRPr lang="en-US" sz="4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Data persistence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874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Entity, attribute, key — the three words you need</a:t>
            </a:r>
            <a:endParaRPr lang="en-US" sz="3276" dirty="0"/>
          </a:p>
        </p:txBody>
      </p:sp>
      <p:sp>
        <p:nvSpPr>
          <p:cNvPr id="7" name="Text 5"/>
          <p:cNvSpPr/>
          <p:nvPr/>
        </p:nvSpPr>
        <p:spPr>
          <a:xfrm>
            <a:off x="685800" y="2091022"/>
            <a:ext cx="10820400" cy="20528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Entity: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thing with a life of its own — service, building, incident, user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Attribute: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fact about one entity — a name, a slug, a 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key: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one column that names exactly one row, forever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Surrogate key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service_id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for identity; 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key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slug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gets a unique index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Foreign key: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rule the database enforces — "this update belongs to a real incident"</a:t>
            </a:r>
            <a:endParaRPr lang="en-US" sz="1872" dirty="0"/>
          </a:p>
        </p:txBody>
      </p:sp>
      <p:sp>
        <p:nvSpPr>
          <p:cNvPr id="8" name="Shape 6"/>
          <p:cNvSpPr/>
          <p:nvPr/>
        </p:nvSpPr>
        <p:spPr>
          <a:xfrm>
            <a:off x="685800" y="4247863"/>
            <a:ext cx="10820400" cy="1256707"/>
          </a:xfrm>
          <a:prstGeom prst="roundRect">
            <a:avLst>
              <a:gd name="adj" fmla="val 3638"/>
            </a:avLst>
          </a:prstGeom>
          <a:solidFill>
            <a:srgbClr val="10321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247863"/>
            <a:ext cx="76200" cy="1256707"/>
          </a:xfrm>
          <a:prstGeom prst="rect">
            <a:avLst/>
          </a:prstGeom>
          <a:solidFill>
            <a:srgbClr val="86EF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362163"/>
            <a:ext cx="10363200" cy="252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7" b="1" spc="100" kern="0" dirty="0">
                <a:solidFill>
                  <a:srgbClr val="86EFA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✦  TIP</a:t>
            </a:r>
            <a:endParaRPr lang="en-US" sz="1287" dirty="0"/>
          </a:p>
        </p:txBody>
      </p:sp>
      <p:sp>
        <p:nvSpPr>
          <p:cNvPr id="11" name="Text 9"/>
          <p:cNvSpPr/>
          <p:nvPr/>
        </p:nvSpPr>
        <p:spPr>
          <a:xfrm>
            <a:off x="914400" y="4652866"/>
            <a:ext cx="10363200" cy="69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for entity vs attribute: does it have facts of its own, or relationships to more than one thing? Then it is an entity.</a:t>
            </a:r>
            <a:endParaRPr lang="en-US" sz="1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Data persistence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619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9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Constraints are the model's last line of defense</a:t>
            </a:r>
            <a:endParaRPr lang="en-US" sz="3192" dirty="0"/>
          </a:p>
        </p:txBody>
      </p:sp>
      <p:sp>
        <p:nvSpPr>
          <p:cNvPr id="7" name="Shape 5"/>
          <p:cNvSpPr/>
          <p:nvPr/>
        </p:nvSpPr>
        <p:spPr>
          <a:xfrm>
            <a:off x="685800" y="2063197"/>
            <a:ext cx="10820400" cy="3627211"/>
          </a:xfrm>
          <a:prstGeom prst="roundRect">
            <a:avLst>
              <a:gd name="adj" fmla="val 1513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63197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08224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schema.sql — campuspulse.service (excerpt)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SQL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512777"/>
            <a:ext cx="10439400" cy="305190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 TABLE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campuspulse.service (</a:t>
            </a:r>
            <a:endParaRPr lang="en-US" sz="136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service_id 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5EEAD4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BIGINT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GENERATED ALWAYS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PRIMARY KEY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6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slug        TEXT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 NULL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6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name        TEXT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 NULL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6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service_category_id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5EEAD4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SMALLINT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 NULL</a:t>
            </a:r>
            <a:endParaRPr lang="en-US" sz="136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campuspulse.service_category (service_category_id),</a:t>
            </a:r>
            <a:endParaRPr lang="en-US" sz="136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created_at  TIMESTAMPTZ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 NULL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now(),</a:t>
            </a:r>
            <a:endParaRPr lang="en-US" sz="136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deleted_at  TIMESTAMPTZ,</a:t>
            </a:r>
            <a:endParaRPr lang="en-US" sz="136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service_slug_fmt_ck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(slug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'^[a-z0-9-]+$'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6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6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INDEX service_slug_live_uq</a:t>
            </a:r>
            <a:endParaRPr lang="en-US" sz="136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campuspulse.service (slug)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deleted_at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21368"/>
              </a:lnSpc>
              <a:buNone/>
            </a:pPr>
            <a:r>
              <a:rPr lang="en-US" sz="136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68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CampusPulse schema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Data persistence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to read the diagram you were handed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31616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77840"/>
            <a:ext cx="10820400" cy="403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Crow's foot notation. The fork means "many". Read the line, not the label.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Data persistence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min  ·  Individual silent write (90 s) → two cold calls (90 s)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342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11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of these needs a junction table?</a:t>
            </a:r>
            <a:endParaRPr lang="en-US" sz="4116" dirty="0"/>
          </a:p>
        </p:txBody>
      </p:sp>
      <p:sp>
        <p:nvSpPr>
          <p:cNvPr id="10" name="Text 8"/>
          <p:cNvSpPr/>
          <p:nvPr/>
        </p:nvSpPr>
        <p:spPr>
          <a:xfrm>
            <a:off x="685800" y="3493224"/>
            <a:ext cx="10820400" cy="20628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Font typeface="+mj-lt"/>
              <a:buAutoNum type="arabicPeriod" startAt="1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Font typeface="+mj-lt"/>
              <a:buAutoNum type="arabicPeriod" startAt="1"/>
            </a:pPr>
            <a:r>
              <a:rPr lang="en-US" sz="235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Font typeface="+mj-lt"/>
              <a:buAutoNum type="arabicPeriod" startAt="1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has many 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Font typeface="+mj-lt"/>
              <a:buAutoNum type="arabicPeriod" startAt="1"/>
            </a:pPr>
            <a:r>
              <a:rPr lang="en-US" sz="235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Font typeface="+mj-lt"/>
              <a:buAutoNum type="arabicPeriod" startAt="1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a service can span several buildings</a:t>
            </a:r>
            <a:endParaRPr lang="en-US" sz="2352" dirty="0"/>
          </a:p>
          <a:p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Font typeface="+mj-lt"/>
              <a:buAutoNum type="arabicPeriod" startAt="2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Font typeface="+mj-lt"/>
              <a:buAutoNum type="arabicPeriod" startAt="2"/>
            </a:pPr>
            <a:r>
              <a:rPr lang="en-US" sz="235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Font typeface="+mj-lt"/>
              <a:buAutoNum type="arabicPeriod" startAt="2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has many 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Font typeface="+mj-lt"/>
              <a:buAutoNum type="arabicPeriod" startAt="2"/>
            </a:pPr>
            <a:r>
              <a:rPr lang="en-US" sz="235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posts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Font typeface="+mj-lt"/>
              <a:buAutoNum type="arabicPeriod" startAt="2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a post belongs to one incident</a:t>
            </a:r>
            <a:endParaRPr lang="en-US" sz="2352" dirty="0"/>
          </a:p>
          <a:p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Font typeface="+mj-lt"/>
              <a:buAutoNum type="arabicPeriod" startAt="3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Font typeface="+mj-lt"/>
              <a:buAutoNum type="arabicPeriod" startAt="3"/>
            </a:pPr>
            <a:r>
              <a:rPr lang="en-US" sz="235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Font typeface="+mj-lt"/>
              <a:buAutoNum type="arabicPeriod" startAt="3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holds many 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Font typeface="+mj-lt"/>
              <a:buAutoNum type="arabicPeriod" startAt="3"/>
            </a:pPr>
            <a:r>
              <a:rPr lang="en-US" sz="235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Font typeface="+mj-lt"/>
              <a:buAutoNum type="arabicPeriod" startAt="3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a role is held by many users</a:t>
            </a:r>
            <a:endParaRPr lang="en-US" sz="2352" dirty="0"/>
          </a:p>
          <a:p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Font typeface="+mj-lt"/>
              <a:buAutoNum type="arabicPeriod" startAt="4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Font typeface="+mj-lt"/>
              <a:buAutoNum type="arabicPeriod" startAt="4"/>
            </a:pPr>
            <a:r>
              <a:rPr lang="en-US" sz="235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Font typeface="+mj-lt"/>
              <a:buAutoNum type="arabicPeriod" startAt="4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has one 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Font typeface="+mj-lt"/>
              <a:buAutoNum type="arabicPeriod" startAt="4"/>
            </a:pPr>
            <a:r>
              <a:rPr lang="en-US" sz="235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status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Font typeface="+mj-lt"/>
              <a:buAutoNum type="arabicPeriod" startAt="4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a status applies to many services</a:t>
            </a:r>
            <a:endParaRPr lang="en-US" sz="235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ORMs and modeling rules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ORMs and the rules that keep a model honest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397100"/>
            <a:ext cx="10820400" cy="920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Persistence, ORMs, and Models on the Web, segment 2 of 3 — the tool writes the SQL; you still own it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450946"/>
            <a:ext cx="10820400" cy="50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ORM writes the SQL. You still own every line of it.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ORMs and modeling rules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Fictional CampusPulse case: the migration nobody read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650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happened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872664"/>
            <a:ext cx="5219700" cy="3066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teammate renames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owner_team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owning_team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the model class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ORM generates a migration; it is applied unread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SQL was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 COLUMN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then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 COLUMN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service's owner is now empty in production</a:t>
            </a:r>
            <a:endParaRPr lang="en-US" sz="1920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650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would have caught 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86500" y="2872664"/>
            <a:ext cx="521970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the generated SQL before applying it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 NULL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constraint that made the migration fail loudly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staging run against a copy of real data</a:t>
            </a:r>
            <a:endParaRPr lang="en-US" sz="19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ORMs and modeling rules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an ORM does, and what it hides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77670"/>
            <a:ext cx="10820400" cy="1038396"/>
          </a:xfrm>
          <a:prstGeom prst="roundRect">
            <a:avLst>
              <a:gd name="adj" fmla="val 440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77670"/>
            <a:ext cx="76200" cy="103839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91970"/>
            <a:ext cx="10363200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85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85" dirty="0"/>
          </a:p>
        </p:txBody>
      </p:sp>
      <p:sp>
        <p:nvSpPr>
          <p:cNvPr id="10" name="Text 8"/>
          <p:cNvSpPr/>
          <p:nvPr/>
        </p:nvSpPr>
        <p:spPr>
          <a:xfrm>
            <a:off x="914400" y="2221535"/>
            <a:ext cx="10363200" cy="442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left column. Inspect the right one before production does.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2991325"/>
            <a:ext cx="5219700" cy="344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6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 for you</a:t>
            </a:r>
            <a:endParaRPr lang="en-US" sz="1665" dirty="0"/>
          </a:p>
        </p:txBody>
      </p:sp>
      <p:sp>
        <p:nvSpPr>
          <p:cNvPr id="12" name="Text 10"/>
          <p:cNvSpPr/>
          <p:nvPr/>
        </p:nvSpPr>
        <p:spPr>
          <a:xfrm>
            <a:off x="685800" y="3420459"/>
            <a:ext cx="5219700" cy="2527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Maps classes or objects to tables and rows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parameterized SQL — no string concatenation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Tracks changes and saves them in one transaction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migrations from model changes</a:t>
            </a:r>
            <a:endParaRPr lang="en-US" sz="1776" dirty="0"/>
          </a:p>
        </p:txBody>
      </p:sp>
      <p:sp>
        <p:nvSpPr>
          <p:cNvPr id="13" name="Text 11"/>
          <p:cNvSpPr/>
          <p:nvPr/>
        </p:nvSpPr>
        <p:spPr>
          <a:xfrm>
            <a:off x="6286500" y="2991325"/>
            <a:ext cx="5219700" cy="344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6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Hides from you</a:t>
            </a:r>
            <a:endParaRPr lang="en-US" sz="1665" dirty="0"/>
          </a:p>
        </p:txBody>
      </p:sp>
      <p:sp>
        <p:nvSpPr>
          <p:cNvPr id="14" name="Text 12"/>
          <p:cNvSpPr/>
          <p:nvPr/>
        </p:nvSpPr>
        <p:spPr>
          <a:xfrm>
            <a:off x="6286500" y="3420459"/>
            <a:ext cx="5219700" cy="1895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many queries a page actually runs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indexes exist, or do not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generated DDL really does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one transaction ends and the next begins</a:t>
            </a:r>
            <a:endParaRPr lang="en-US" sz="1776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ORMs and modeling rules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0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6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model in EF Core: entities plus a context</a:t>
            </a:r>
            <a:endParaRPr lang="en-US" sz="3360" dirty="0"/>
          </a:p>
        </p:txBody>
      </p:sp>
      <p:sp>
        <p:nvSpPr>
          <p:cNvPr id="7" name="Shape 5"/>
          <p:cNvSpPr/>
          <p:nvPr/>
        </p:nvSpPr>
        <p:spPr>
          <a:xfrm>
            <a:off x="685800" y="1608064"/>
            <a:ext cx="10820400" cy="3912870"/>
          </a:xfrm>
          <a:prstGeom prst="roundRect">
            <a:avLst>
              <a:gd name="adj" fmla="val 1402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08064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27114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4 reference demo — api/Program.cs (excerpt)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CSHARP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57644"/>
            <a:ext cx="10439400" cy="33375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sealed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Id {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}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Title {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}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EEAD4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ProjectId {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 }      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 foreign key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Project? Project {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}   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navigation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DateTimeOffset CreatedAt {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}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sealed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AppDbContext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DbContextOptions&lt;AppDbContext&gt; o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DbContext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DbSet&lt;Feature&gt; Features =&gt; Set&lt;Feature&gt;();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OnModelCreating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ModelBuilder m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m.Entity&lt;Feature&gt;()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13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.HasIndex(f =&gt;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{ f.ProjectId, f.Layer });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14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}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15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demo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bodonnell-DePaul/webdev_week4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Learn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EF Core overview</a:t>
            </a:r>
            <a:endParaRPr lang="en-US" sz="12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ORMs and modeling rules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766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9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same idea in TypeScript, against our schema</a:t>
            </a:r>
            <a:endParaRPr lang="en-US" sz="3192" dirty="0"/>
          </a:p>
        </p:txBody>
      </p:sp>
      <p:sp>
        <p:nvSpPr>
          <p:cNvPr id="7" name="Shape 5"/>
          <p:cNvSpPr/>
          <p:nvPr/>
        </p:nvSpPr>
        <p:spPr>
          <a:xfrm>
            <a:off x="685800" y="1577953"/>
            <a:ext cx="10820400" cy="3912870"/>
          </a:xfrm>
          <a:prstGeom prst="roundRect">
            <a:avLst>
              <a:gd name="adj" fmla="val 1402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77953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97003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Drizzle ORM sketch of campuspulse.service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27533"/>
            <a:ext cx="10439400" cy="33375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pgTable,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bigint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text, timestamp, uniqueIndex }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"drizzle-orm/pg-core"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{ sql }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"drizzle-orm"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service 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pgTable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"service"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serviceId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bigint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"service_id"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{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"number"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})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primaryKey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generatedAlwaysAsIdentity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slug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"slug"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notNull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"created_at"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{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withTimezone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})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notNull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defaultNow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deletedAt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"deleted_at"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{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withTimezone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}),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[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13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uniqueIndex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"service_slug_live_uq"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slug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14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(sql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`deleted_at IS NULL`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15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Drizzle ORM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PostgreSQL column types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Prisma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model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CampusPulse schema</a:t>
            </a:r>
            <a:endParaRPr lang="en-US" sz="12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ORMs and modeling rules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639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Migrations are versioned architecture</a:t>
            </a:r>
            <a:endParaRPr lang="en-US" sz="3108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62897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3964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Step</a:t>
                      </a:r>
                      <a:endParaRPr lang="en-US" sz="133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EF Core</a:t>
                      </a:r>
                      <a:endParaRPr lang="en-US" sz="133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Drizzle</a:t>
                      </a:r>
                      <a:endParaRPr lang="en-US" sz="133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 it matters</a:t>
                      </a:r>
                      <a:endParaRPr lang="en-US" sz="133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658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Generate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dotnet ef migrations add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drizzle-kit generate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 change → SQL file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58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dotnet ef migrations script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 the .sql file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only step that catches a drop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58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Apply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dotnet ef database update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drizzle-kit migrate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order everywhere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151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Verify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pg_dump --schema-only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pg_dump --schema-only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is actually running</a:t>
                      </a:r>
                      <a:endParaRPr lang="en-US" sz="144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4502171"/>
            <a:ext cx="10820400" cy="1212580"/>
          </a:xfrm>
          <a:prstGeom prst="roundRect">
            <a:avLst>
              <a:gd name="adj" fmla="val 3770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4502171"/>
            <a:ext cx="76200" cy="1212580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616471"/>
            <a:ext cx="10363200" cy="239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1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221" dirty="0"/>
          </a:p>
        </p:txBody>
      </p:sp>
      <p:sp>
        <p:nvSpPr>
          <p:cNvPr id="11" name="Text 8"/>
          <p:cNvSpPr/>
          <p:nvPr/>
        </p:nvSpPr>
        <p:spPr>
          <a:xfrm>
            <a:off x="914400" y="4894220"/>
            <a:ext cx="10363200" cy="668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edit an applied migration — write a new one. The demo's </a:t>
            </a:r>
            <a:pPr algn="l" indent="0" marL="0">
              <a:lnSpc>
                <a:spcPct val="102256"/>
              </a:lnSpc>
              <a:buNone/>
            </a:pPr>
            <a:r>
              <a:rPr lang="en-US" sz="1669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EnsureCreated()</a:t>
            </a:r>
            <a:pPr algn="l" indent="0" marL="0">
              <a:lnSpc>
                <a:spcPct val="102256"/>
              </a:lnSpc>
              <a:buNone/>
            </a:pP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 classroom shortcut, not a strategy.</a:t>
            </a:r>
            <a:endParaRPr lang="en-US" sz="1669" dirty="0"/>
          </a:p>
        </p:txBody>
      </p:sp>
      <p:sp>
        <p:nvSpPr>
          <p:cNvPr id="12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Learn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EF Core migrations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Drizzle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Migrations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pg_dump</a:t>
            </a:r>
            <a:endParaRPr lang="en-US" sz="12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ORMs and modeling rules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Six rules that keep a model honest</a:t>
            </a:r>
            <a:endParaRPr lang="en-US" sz="3276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930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0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Rule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prevents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2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fact, one place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Two copies that disagree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Don't store what you can calculate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cached number that stops matching reality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Timestamp everything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Questions about the past you cannot answer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2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 deleted; don't delete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History that vanishes with the row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Events are written once; entities are edited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 audit trail your app can rewrite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Fixed choices get a lookup table; names get a convention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Four spellings of one team name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guardrail sheet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Gate 4 milestone</a:t>
            </a:r>
            <a:endParaRPr lang="en-US" sz="12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ORMs and modeling rules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405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Trap 1: N+1 — the queries you did not write</a:t>
            </a:r>
            <a:endParaRPr lang="en-US" sz="3612" dirty="0"/>
          </a:p>
        </p:txBody>
      </p:sp>
      <p:sp>
        <p:nvSpPr>
          <p:cNvPr id="7" name="Shape 5"/>
          <p:cNvSpPr/>
          <p:nvPr/>
        </p:nvSpPr>
        <p:spPr>
          <a:xfrm>
            <a:off x="685800" y="1653231"/>
            <a:ext cx="10820400" cy="3993482"/>
          </a:xfrm>
          <a:prstGeom prst="roundRect">
            <a:avLst>
              <a:gd name="adj" fmla="val 1374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53231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7228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page, two very different query counts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CSHARP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02811"/>
            <a:ext cx="10439400" cy="34181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1 query for projects + 1 more per project = N+1</a:t>
            </a:r>
            <a:endParaRPr lang="en-US" sz="167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projects = 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db.Projects.ToListAsync();</a:t>
            </a:r>
            <a:endParaRPr lang="en-US" sz="167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p 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projects)</a:t>
            </a:r>
            <a:endParaRPr lang="en-US" sz="167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p.Features = 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db.Features</a:t>
            </a:r>
            <a:endParaRPr lang="en-US" sz="167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.Where(f =&gt; f.ProjectId == p.Id).ToListAsync();</a:t>
            </a:r>
            <a:endParaRPr lang="en-US" sz="167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7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One round trip: ask for the related rows up front</a:t>
            </a:r>
            <a:endParaRPr lang="en-US" sz="167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projects2 = 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db.Projects</a:t>
            </a:r>
            <a:endParaRPr lang="en-US" sz="167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.Include(p =&gt; p.Features)</a:t>
            </a:r>
            <a:endParaRPr lang="en-US" sz="167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.AsNoTracking()</a:t>
            </a:r>
            <a:endParaRPr lang="en-US" sz="167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21368"/>
              </a:lnSpc>
              <a:buNone/>
            </a:pPr>
            <a:r>
              <a:rPr lang="en-US" sz="167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.ToListAsync();</a:t>
            </a:r>
            <a:endParaRPr lang="en-US" sz="1677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Learn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Loading related data</a:t>
            </a:r>
            <a:endParaRPr lang="en-US" sz="12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ORMs and modeling rules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511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2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Traps 2 and 3, and where validation belongs</a:t>
            </a:r>
            <a:endParaRPr lang="en-US" sz="3024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47841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3903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9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Problem</a:t>
                      </a:r>
                      <a:endParaRPr lang="en-US" sz="129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9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Symptom</a:t>
                      </a:r>
                      <a:endParaRPr lang="en-US" sz="129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9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Fix</a:t>
                      </a:r>
                      <a:endParaRPr lang="en-US" sz="129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645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Missing index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filter is fast in dev, slow at 100k rows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Index what you filter, join, and sort on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45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Connection exhaustion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"Too many clients" under load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pooled client per process, not per request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45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Browser validation only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Bad rows arrive from scripts and tools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Validate in the API with a schema (e.g. Zod)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45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 validation only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Two writers disagree on the rule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Database constraints: NOT NULL, CHECK, FKs, unique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4669024"/>
            <a:ext cx="10820400" cy="909965"/>
          </a:xfrm>
          <a:prstGeom prst="roundRect">
            <a:avLst>
              <a:gd name="adj" fmla="val 5024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4669024"/>
            <a:ext cx="76200" cy="909965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783324"/>
            <a:ext cx="1036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5054596"/>
            <a:ext cx="10363200" cy="3719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6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in layers: the browser is a courtesy, the API is a policy, the database is a guarantee.</a:t>
            </a:r>
            <a:endParaRPr lang="en-US" sz="1624" dirty="0"/>
          </a:p>
        </p:txBody>
      </p:sp>
      <p:sp>
        <p:nvSpPr>
          <p:cNvPr id="12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Indexes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node-postgres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Pooling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Zod</a:t>
            </a:r>
            <a:endParaRPr lang="en-US" sz="12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ORMs and modeling rules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Reviewing a schema your assistant generated</a:t>
            </a:r>
            <a:endParaRPr lang="en-US" sz="3276" dirty="0"/>
          </a:p>
        </p:txBody>
      </p:sp>
      <p:sp>
        <p:nvSpPr>
          <p:cNvPr id="7" name="Text 5"/>
          <p:cNvSpPr/>
          <p:nvPr/>
        </p:nvSpPr>
        <p:spPr>
          <a:xfrm>
            <a:off x="685800" y="1593008"/>
            <a:ext cx="10820400" cy="24451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every table have a deliberate 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key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every relationship a 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foreign key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constraints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what humans type (slug, email)?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there 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indexes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the queries the product actually runs?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timestamps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soft delete, and lookup tables there — the six rules?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any 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derived or duplicated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value stored without a detector?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it put 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secrets or personal data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where they do not belong?</a:t>
            </a:r>
            <a:endParaRPr lang="en-US" sz="1872" dirty="0"/>
          </a:p>
        </p:txBody>
      </p:sp>
      <p:sp>
        <p:nvSpPr>
          <p:cNvPr id="8" name="Shape 6"/>
          <p:cNvSpPr/>
          <p:nvPr/>
        </p:nvSpPr>
        <p:spPr>
          <a:xfrm>
            <a:off x="685800" y="4142127"/>
            <a:ext cx="10820400" cy="1256707"/>
          </a:xfrm>
          <a:prstGeom prst="roundRect">
            <a:avLst>
              <a:gd name="adj" fmla="val 3638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142127"/>
            <a:ext cx="76200" cy="1256707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56427"/>
            <a:ext cx="10363200" cy="252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7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287" dirty="0"/>
          </a:p>
        </p:txBody>
      </p:sp>
      <p:sp>
        <p:nvSpPr>
          <p:cNvPr id="11" name="Text 9"/>
          <p:cNvSpPr/>
          <p:nvPr/>
        </p:nvSpPr>
        <p:spPr>
          <a:xfrm>
            <a:off x="914400" y="4547130"/>
            <a:ext cx="10363200" cy="69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can draft a schema in seconds. It cannot know your access patterns, your retention rules, or which column your audit trail depends on.</a:t>
            </a:r>
            <a:endParaRPr lang="en-US" sz="1760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4 reference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schema checklist</a:t>
            </a:r>
            <a:endParaRPr lang="en-US" sz="12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ORMs and modeling rules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min  ·  Individual silent write (90 s) → cold call two rows (90 s)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rule does each of these break?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85800" y="2882570"/>
            <a:ext cx="108204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incident.affected_service_ids TEXT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'12,15,19'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service.open_incident_count INT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audit_event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an 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endpoint for fixing typos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building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no 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Font typeface="+mj-lt"/>
              <a:buAutoNum type="arabicPeriod" startAt="5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service.owner_team TEXT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Font typeface="+mj-lt"/>
              <a:buAutoNum type="arabicPeriod" startAt="5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three spellings of one team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Models on the web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Models on the web: APIs, MCP, and the schema you are running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397100"/>
            <a:ext cx="10820400" cy="920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Persistence, ORMs, and Models on the Web, segment 3 of 3 — one data model, three doors: the browser, the API caller, and the AI tool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450946"/>
            <a:ext cx="10820400" cy="920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data model. Three doors: the browser, the API caller, and the AI tool.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Models on the web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API exposes resources, not tables</a:t>
            </a:r>
            <a:endParaRPr lang="en-US" sz="3276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930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0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Request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Success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Common failures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2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 /api/status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+ list of service DTOs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500 if the database is down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 /api/incidents/INC-2026-0016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+ incident DTO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404 unknown or non-public ref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 /api/incidents/{ref}/updates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201 + Location header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 invalid body · 404 · 409 conflict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2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PATCH /api/services/{slug}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+ updated DTO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 · 404 · 401/403 from Week 8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4385853"/>
            <a:ext cx="10820400" cy="1256707"/>
          </a:xfrm>
          <a:prstGeom prst="roundRect">
            <a:avLst>
              <a:gd name="adj" fmla="val 3638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4385853"/>
            <a:ext cx="76200" cy="125670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500153"/>
            <a:ext cx="10363200" cy="252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7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87" dirty="0"/>
          </a:p>
        </p:txBody>
      </p:sp>
      <p:sp>
        <p:nvSpPr>
          <p:cNvPr id="11" name="Text 8"/>
          <p:cNvSpPr/>
          <p:nvPr/>
        </p:nvSpPr>
        <p:spPr>
          <a:xfrm>
            <a:off x="914400" y="4790856"/>
            <a:ext cx="10363200" cy="69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DTO is a deliberate, narrower shape than the row. Return what the caller needs — never </a:t>
            </a:r>
            <a:pPr algn="l" indent="0" marL="0">
              <a:lnSpc>
                <a:spcPct val="102256"/>
              </a:lnSpc>
              <a:buNone/>
            </a:pPr>
            <a:r>
              <a:rPr lang="en-US" sz="17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</a:t>
            </a:r>
            <a:pPr algn="l" indent="0" marL="0">
              <a:lnSpc>
                <a:spcPct val="102256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lnSpc>
                <a:spcPct val="102256"/>
              </a:lnSpc>
              <a:buNone/>
            </a:pPr>
            <a:r>
              <a:rPr lang="en-US" sz="17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deleted_at</a:t>
            </a:r>
            <a:pPr algn="l" indent="0" marL="0">
              <a:lnSpc>
                <a:spcPct val="102256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internals, or another user's data.</a:t>
            </a:r>
            <a:endParaRPr lang="en-US" sz="1760" dirty="0"/>
          </a:p>
        </p:txBody>
      </p:sp>
      <p:sp>
        <p:nvSpPr>
          <p:cNvPr id="12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CampusPulse REST adapter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MDN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 response status codes</a:t>
            </a:r>
            <a:endParaRPr lang="en-US" sz="12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Models on the web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511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2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typed client layer in the browser</a:t>
            </a:r>
            <a:endParaRPr lang="en-US" sz="3024" dirty="0"/>
          </a:p>
        </p:txBody>
      </p:sp>
      <p:sp>
        <p:nvSpPr>
          <p:cNvPr id="7" name="Shape 5"/>
          <p:cNvSpPr/>
          <p:nvPr/>
        </p:nvSpPr>
        <p:spPr>
          <a:xfrm>
            <a:off x="685800" y="1547841"/>
            <a:ext cx="10820400" cy="3130555"/>
          </a:xfrm>
          <a:prstGeom prst="roundRect">
            <a:avLst>
              <a:gd name="adj" fmla="val 1753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47841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6689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Adapted from the Week 4 reference demo — src/api/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97421"/>
            <a:ext cx="10439400" cy="255524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axios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"axios"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4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4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apiClient = axios.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24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baseURL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VITE_API_URL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??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"/api"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4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{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"Content-Type"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"application/json"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},</a:t>
            </a:r>
            <a:endParaRPr lang="en-US" sz="124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4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4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postIncidentUpdate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ref, update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{</a:t>
            </a:r>
            <a:endParaRPr lang="en-US" sz="124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res =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apiClient.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`/incidents/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${ref}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/updates`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update);</a:t>
            </a:r>
            <a:endParaRPr lang="en-US" sz="124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res.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4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21368"/>
              </a:lnSpc>
              <a:buNone/>
            </a:pPr>
            <a:r>
              <a:rPr lang="en-US" sz="124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42" dirty="0"/>
          </a:p>
        </p:txBody>
      </p:sp>
      <p:sp>
        <p:nvSpPr>
          <p:cNvPr id="11" name="Shape 9"/>
          <p:cNvSpPr/>
          <p:nvPr/>
        </p:nvSpPr>
        <p:spPr>
          <a:xfrm>
            <a:off x="685800" y="4788125"/>
            <a:ext cx="10820400" cy="909965"/>
          </a:xfrm>
          <a:prstGeom prst="roundRect">
            <a:avLst>
              <a:gd name="adj" fmla="val 5024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788125"/>
            <a:ext cx="76200" cy="909965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902425"/>
            <a:ext cx="1036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5173697"/>
            <a:ext cx="10363200" cy="3719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6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VITE_*</a:t>
            </a:r>
            <a:pPr algn="l" indent="0" marL="0">
              <a:lnSpc>
                <a:spcPct val="102256"/>
              </a:lnSpc>
              <a:buNone/>
            </a:pPr>
            <a:r>
              <a:rPr lang="en-US" sz="16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values ship to every browser. Keys and DB credentials stay server-side.</a:t>
            </a:r>
            <a:endParaRPr lang="en-US" sz="1624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demo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client.js and projectsApi.js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Env variables and modes</a:t>
            </a:r>
            <a:endParaRPr lang="en-US" sz="12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Models on the web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MCP: a second door into the same model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416150"/>
            <a:ext cx="10820400" cy="1322897"/>
          </a:xfrm>
          <a:prstGeom prst="roundRect">
            <a:avLst>
              <a:gd name="adj" fmla="val 345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16150"/>
            <a:ext cx="76200" cy="132289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30450"/>
            <a:ext cx="103632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6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86" dirty="0"/>
          </a:p>
        </p:txBody>
      </p:sp>
      <p:sp>
        <p:nvSpPr>
          <p:cNvPr id="10" name="Text 8"/>
          <p:cNvSpPr/>
          <p:nvPr/>
        </p:nvSpPr>
        <p:spPr>
          <a:xfrm>
            <a:off x="914400" y="2840584"/>
            <a:ext cx="10363200" cy="746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store, same constraints. A rule only in the React form is one the AI tool skips.</a:t>
            </a:r>
            <a:endParaRPr lang="en-US" sz="1895" dirty="0"/>
          </a:p>
        </p:txBody>
      </p:sp>
      <p:sp>
        <p:nvSpPr>
          <p:cNvPr id="11" name="Text 9"/>
          <p:cNvSpPr/>
          <p:nvPr/>
        </p:nvSpPr>
        <p:spPr>
          <a:xfrm>
            <a:off x="685800" y="3905162"/>
            <a:ext cx="5219700" cy="3719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4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REST API</a:t>
            </a:r>
            <a:endParaRPr lang="en-US" sz="1845" dirty="0"/>
          </a:p>
        </p:txBody>
      </p:sp>
      <p:sp>
        <p:nvSpPr>
          <p:cNvPr id="12" name="Text 10"/>
          <p:cNvSpPr/>
          <p:nvPr/>
        </p:nvSpPr>
        <p:spPr>
          <a:xfrm>
            <a:off x="685800" y="4370803"/>
            <a:ext cx="5219700" cy="13286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Caller: your app, scripts, partners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Contract: paths, status codes, DTOs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Auth: tokens (Week 8)</a:t>
            </a:r>
            <a:endParaRPr lang="en-US" sz="1968" dirty="0"/>
          </a:p>
        </p:txBody>
      </p:sp>
      <p:sp>
        <p:nvSpPr>
          <p:cNvPr id="13" name="Text 11"/>
          <p:cNvSpPr/>
          <p:nvPr/>
        </p:nvSpPr>
        <p:spPr>
          <a:xfrm>
            <a:off x="6286500" y="3905162"/>
            <a:ext cx="5219700" cy="3719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4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MCP server</a:t>
            </a:r>
            <a:endParaRPr lang="en-US" sz="1845" dirty="0"/>
          </a:p>
        </p:txBody>
      </p:sp>
      <p:sp>
        <p:nvSpPr>
          <p:cNvPr id="14" name="Text 12"/>
          <p:cNvSpPr/>
          <p:nvPr/>
        </p:nvSpPr>
        <p:spPr>
          <a:xfrm>
            <a:off x="6286500" y="4370803"/>
            <a:ext cx="5219700" cy="13286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Caller: an AI host, for a person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Contract: 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JSON schemas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Auth: scopes (Week 8); audit (Week 9)</a:t>
            </a:r>
            <a:endParaRPr lang="en-US" sz="1968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Context Protocol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starter</a:t>
            </a:r>
            <a:endParaRPr lang="en-US" sz="12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Models on the web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27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MCP tool is a schema-validated contract</a:t>
            </a:r>
            <a:endParaRPr lang="en-US" sz="3528" dirty="0"/>
          </a:p>
        </p:txBody>
      </p:sp>
      <p:sp>
        <p:nvSpPr>
          <p:cNvPr id="7" name="Shape 5"/>
          <p:cNvSpPr/>
          <p:nvPr/>
        </p:nvSpPr>
        <p:spPr>
          <a:xfrm>
            <a:off x="685800" y="1638175"/>
            <a:ext cx="10820400" cy="3916116"/>
          </a:xfrm>
          <a:prstGeom prst="roundRect">
            <a:avLst>
              <a:gd name="adj" fmla="val 1401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38175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57225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samples/mcp-starter/src/server.ts — post_incident_update (trimmed)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87755"/>
            <a:ext cx="10439400" cy="334080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registerTool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"post_incident_update"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{</a:t>
            </a:r>
            <a:endParaRPr lang="en-US" sz="138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"Appends an update... PUBLISHED TO THE PUBLIC STATUS PAGE."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8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inputSchema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z.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38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z.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/^INC-\d{4}-\d{4,}$/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38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z.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38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z.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"operational"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"degraded"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"major_outage"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8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.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138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z.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38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}),</a:t>
            </a:r>
            <a:endParaRPr lang="en-US" sz="138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outputSchema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z.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posted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z.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feedEventId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z.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 }),</a:t>
            </a:r>
            <a:endParaRPr lang="en-US" sz="138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annotations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{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readOnlyHint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destructiveHint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},</a:t>
            </a:r>
            <a:endParaRPr lang="en-US" sz="138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},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(args) =&gt;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audited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(store, caller,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"post_incident_update"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args,</a:t>
            </a:r>
            <a:endParaRPr lang="en-US" sz="138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13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 ...write update + feed_event + status, one transaction */</a:t>
            </a:r>
            <a:pPr indent="0" marL="0">
              <a:lnSpc>
                <a:spcPct val="121368"/>
              </a:lnSpc>
              <a:buNone/>
            </a:pPr>
            <a:r>
              <a:rPr lang="en-US" sz="138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386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starter server.ts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domain types</a:t>
            </a:r>
            <a:endParaRPr lang="en-US" sz="12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Models on the web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min  ·  Individual — open floor, individual contributions only; instructor takes answers on the 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Walk CampusPulse against the six rules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85800" y="3521050"/>
            <a:ext cx="10820400" cy="50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things this schema does </a:t>
            </a:r>
            <a:pPr algn="l" indent="0" marL="0">
              <a:lnSpc>
                <a:spcPct val="102256"/>
              </a:lnSpc>
              <a:buNone/>
            </a:pPr>
            <a:r>
              <a:rPr lang="en-US" sz="2400" b="1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deliberately.</a:t>
            </a:r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Defend it, or attack it.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" y="4160368"/>
            <a:ext cx="10820400" cy="50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thing that will have to be fixed by Week 10.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CampusPulse schema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 diagram</a:t>
            </a:r>
            <a:endParaRPr lang="en-US" sz="12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Homework brief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38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4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milestone: a dated snapshot, due before Week 7</a:t>
            </a:r>
            <a:endParaRPr lang="en-US" sz="3444" dirty="0"/>
          </a:p>
        </p:txBody>
      </p:sp>
      <p:sp>
        <p:nvSpPr>
          <p:cNvPr id="7" name="Text 5"/>
          <p:cNvSpPr/>
          <p:nvPr/>
        </p:nvSpPr>
        <p:spPr>
          <a:xfrm>
            <a:off x="685800" y="2146673"/>
            <a:ext cx="10820400" cy="4313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4 — Data baseline.</a:t>
            </a:r>
            <a:pPr algn="l" indent="0" marL="0">
              <a:lnSpc>
                <a:spcPct val="102256"/>
              </a:lnSpc>
              <a:buNone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Two artifacts, 45–75 minutes of work:</a:t>
            </a:r>
            <a:endParaRPr lang="en-US" sz="1968" dirty="0"/>
          </a:p>
        </p:txBody>
      </p:sp>
      <p:sp>
        <p:nvSpPr>
          <p:cNvPr id="8" name="Text 6"/>
          <p:cNvSpPr/>
          <p:nvPr/>
        </p:nvSpPr>
        <p:spPr>
          <a:xfrm>
            <a:off x="685800" y="2687373"/>
            <a:ext cx="10820400" cy="1616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1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ER diagram of the schema you are 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1"/>
            </a:pPr>
            <a:r>
              <a:rPr lang="en-US" sz="1968" b="1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actually running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1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dump it with 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1"/>
            </a:pP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pg_dump --schema-only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1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diagram that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2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half-page self-critique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2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against the six rules: what follows them, what doesn't, what you suspect will hurt</a:t>
            </a:r>
            <a:endParaRPr lang="en-US" sz="1968" dirty="0"/>
          </a:p>
        </p:txBody>
      </p:sp>
      <p:sp>
        <p:nvSpPr>
          <p:cNvPr id="9" name="Shape 7"/>
          <p:cNvSpPr/>
          <p:nvPr/>
        </p:nvSpPr>
        <p:spPr>
          <a:xfrm>
            <a:off x="685800" y="4412769"/>
            <a:ext cx="10820400" cy="1300833"/>
          </a:xfrm>
          <a:prstGeom prst="roundRect">
            <a:avLst>
              <a:gd name="adj" fmla="val 351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4412769"/>
            <a:ext cx="76200" cy="130083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527069"/>
            <a:ext cx="10363200" cy="265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3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53" dirty="0"/>
          </a:p>
        </p:txBody>
      </p:sp>
      <p:sp>
        <p:nvSpPr>
          <p:cNvPr id="12" name="Text 10"/>
          <p:cNvSpPr/>
          <p:nvPr/>
        </p:nvSpPr>
        <p:spPr>
          <a:xfrm>
            <a:off x="914400" y="4830726"/>
            <a:ext cx="10363200" cy="730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5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Scored on presence, dating, and fidelity — </a:t>
            </a:r>
            <a:pPr algn="l" indent="0" marL="0">
              <a:lnSpc>
                <a:spcPct val="102256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</a:t>
            </a:r>
            <a:pPr algn="l" indent="0" marL="0">
              <a:lnSpc>
                <a:spcPct val="102256"/>
              </a:lnSpc>
              <a:buNone/>
            </a:pPr>
            <a:r>
              <a:rPr lang="en-US" sz="185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correctness. Wrong predictions cost zero points; Week 10 grades what you learned since.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milestone handout and template</a:t>
            </a:r>
            <a:endParaRPr lang="en-US" sz="12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Homework brief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42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11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HW5, reissued: Own the Edge + Model the Data</a:t>
            </a:r>
            <a:endParaRPr lang="en-US" sz="4116" dirty="0"/>
          </a:p>
        </p:txBody>
      </p:sp>
      <p:sp>
        <p:nvSpPr>
          <p:cNvPr id="7" name="Text 5"/>
          <p:cNvSpPr/>
          <p:nvPr/>
        </p:nvSpPr>
        <p:spPr>
          <a:xfrm>
            <a:off x="685800" y="2369274"/>
            <a:ext cx="10820400" cy="33174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A — Week 5's edge tasks: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CDN, cache matrix, four cache states, performance, accessibility, SLO + an alert that fired</a:t>
            </a:r>
            <a:endParaRPr lang="en-US" sz="2352" dirty="0"/>
          </a:p>
          <a:p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B — tonight's tasks: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persistence inventory, ORM mapping with a migration diff, API contract, an MCP tool schema draft, an AI schema review</a:t>
            </a:r>
            <a:endParaRPr lang="en-US" sz="2352" dirty="0"/>
          </a:p>
          <a:p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on the system you already run — no new app</a:t>
            </a:r>
            <a:endParaRPr lang="en-US" sz="2352" dirty="0"/>
          </a:p>
          <a:p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points · individual · due before Week 8</a:t>
            </a:r>
            <a:endParaRPr lang="en-US" sz="2352" dirty="0"/>
          </a:p>
        </p:txBody>
      </p:sp>
      <p:sp>
        <p:nvSpPr>
          <p:cNvPr id="8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HW5 handout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5 task detail</a:t>
            </a:r>
            <a:endParaRPr lang="en-US" sz="12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W06·C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Closing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you leave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58620"/>
            <a:ext cx="10820400" cy="2453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before Week 7: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Gate 4 data-baseline milestone — diagram plus half-page critique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before Week 8: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HW5 (reissued), Parts A and B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Week 7's prep before class — MCP builds on tonight's model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 Exam + Data Persistence, ORMs, and Models on the Web — Week 6 Full session</dc:title>
  <dc:subject>Review, exam preparation and logistics, the midterm, data modeling, and the baseline milestone</dc:subject>
  <dc:creator>Course staff</dc:creator>
  <cp:lastModifiedBy>Course staff</cp:lastModifiedBy>
  <cp:revision>1</cp:revision>
  <dcterms:created xsi:type="dcterms:W3CDTF">2026-10-15T18:41:17Z</dcterms:created>
  <dcterms:modified xsi:type="dcterms:W3CDTF">2026-10-15T18:41:17Z</dcterms:modified>
</cp:coreProperties>
</file>